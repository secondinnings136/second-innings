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946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SCHOOL TO LIFE</a:t>
            </a:r>
          </a:p>
          <a:p>
            <a:pPr>
              <a:spcBef>
                <a:spcPts val="800"/>
              </a:spcBef>
              <a:defRPr sz="1800">
                <a:solidFill>
                  <a:srgbClr val="DCE6F2"/>
                </a:solidFill>
              </a:defRPr>
            </a:pPr>
            <a:r>
              <a:t>Student Development, Life Readiness &amp; Institutional Differentiation at Presidency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42976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i="1">
                <a:solidFill>
                  <a:srgbClr val="FFFFFF"/>
                </a:solidFill>
              </a:defRPr>
            </a:pPr>
            <a:r>
              <a:t>Preparing students not merely for Class XII — but for university, career and responsible adult life.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589788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8D2E1"/>
                </a:solidFill>
              </a:defRPr>
            </a:pPr>
            <a:r>
              <a:t>Proposed by Deepak Sogani | Senior Professional | Former Head – Student Affairs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Aptos Display"/>
              </a:defRPr>
            </a:pPr>
            <a:r>
              <a:t>The space between school and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A5A5A"/>
                </a:solidFill>
                <a:latin typeface="Aptos"/>
              </a:defRPr>
            </a:pPr>
            <a:r>
              <a:t>Academic ability alone does not automatically create life readiness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29000" cy="1920240"/>
          </a:xfrm>
          <a:prstGeom prst="roundRect">
            <a:avLst/>
          </a:prstGeom>
          <a:solidFill>
            <a:srgbClr val="F7F9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73152" cy="192024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691639"/>
            <a:ext cx="3108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365D"/>
                </a:solidFill>
                <a:latin typeface="Aptos"/>
              </a:defRPr>
            </a:pPr>
            <a:r>
              <a:t>Students are informed</a:t>
            </a:r>
          </a:p>
          <a:p>
            <a:pPr>
              <a:spcBef>
                <a:spcPts val="500"/>
              </a:spcBef>
              <a:defRPr sz="1050">
                <a:solidFill>
                  <a:srgbClr val="5A5A5A"/>
                </a:solidFill>
                <a:latin typeface="Aptos"/>
              </a:defRPr>
            </a:pPr>
            <a:r>
              <a:t>But information does not always become perspective, judgement or ownership.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429000" cy="1920240"/>
          </a:xfrm>
          <a:prstGeom prst="roundRect">
            <a:avLst/>
          </a:prstGeom>
          <a:solidFill>
            <a:srgbClr val="F7F9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554480"/>
            <a:ext cx="73152" cy="192024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691639"/>
            <a:ext cx="3108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365D"/>
                </a:solidFill>
                <a:latin typeface="Aptos"/>
              </a:defRPr>
            </a:pPr>
            <a:r>
              <a:t>Parents are invested</a:t>
            </a:r>
          </a:p>
          <a:p>
            <a:pPr>
              <a:spcBef>
                <a:spcPts val="500"/>
              </a:spcBef>
              <a:defRPr sz="1050">
                <a:solidFill>
                  <a:srgbClr val="5A5A5A"/>
                </a:solidFill>
                <a:latin typeface="Aptos"/>
              </a:defRPr>
            </a:pPr>
            <a:r>
              <a:t>But adolescence, new-age careers and university transition create unfamiliar questions.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429000" cy="1920240"/>
          </a:xfrm>
          <a:prstGeom prst="roundRect">
            <a:avLst/>
          </a:prstGeom>
          <a:solidFill>
            <a:srgbClr val="F7F9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1554480"/>
            <a:ext cx="73152" cy="192024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7888" y="1691639"/>
            <a:ext cx="3108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365D"/>
                </a:solidFill>
                <a:latin typeface="Aptos"/>
              </a:defRPr>
            </a:pPr>
            <a:r>
              <a:t>Schools are evolving</a:t>
            </a:r>
          </a:p>
          <a:p>
            <a:pPr>
              <a:spcBef>
                <a:spcPts val="500"/>
              </a:spcBef>
              <a:defRPr sz="1050">
                <a:solidFill>
                  <a:srgbClr val="5A5A5A"/>
                </a:solidFill>
                <a:latin typeface="Aptos"/>
              </a:defRPr>
            </a:pPr>
            <a:r>
              <a:t>A distinctive student-development ecosystem can complement academics and strengthen parent confidence.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251960"/>
            <a:ext cx="9966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7365D"/>
                </a:solidFill>
              </a:defRPr>
            </a:pPr>
            <a:r>
              <a:t>Presidency can build a visible bridge: SCHOOL → UNIVERSITY → CAREER → LIFE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8C8C8C"/>
                </a:solidFill>
                <a:latin typeface="Aptos"/>
              </a:defRPr>
            </a:pPr>
            <a:r>
              <a:t>Presidency School | School to Life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Aptos Display"/>
              </a:defRPr>
            </a:pPr>
            <a:r>
              <a:t>A signature Presidency programme for Classes IX–XII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A5A5A"/>
                </a:solidFill>
                <a:latin typeface="Aptos"/>
              </a:defRPr>
            </a:pPr>
            <a:r>
              <a:t>Structured development beyond conventional career counselling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520440" cy="1783080"/>
          </a:xfrm>
          <a:prstGeom prst="roundRect">
            <a:avLst/>
          </a:prstGeom>
          <a:solidFill>
            <a:srgbClr val="F7F9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73152" cy="17830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6002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7365D"/>
                </a:solidFill>
                <a:latin typeface="Aptos"/>
              </a:defRPr>
            </a:pPr>
            <a:r>
              <a:t>Self-awareness &amp; decision-making</a:t>
            </a:r>
          </a:p>
          <a:p>
            <a:pPr>
              <a:spcBef>
                <a:spcPts val="500"/>
              </a:spcBef>
              <a:defRPr sz="950">
                <a:solidFill>
                  <a:srgbClr val="5A5A5A"/>
                </a:solidFill>
                <a:latin typeface="Aptos"/>
              </a:defRPr>
            </a:pPr>
            <a:r>
              <a:t>Understand strengths, choices, influences and responsibility.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1463040"/>
            <a:ext cx="3520440" cy="1783080"/>
          </a:xfrm>
          <a:prstGeom prst="roundRect">
            <a:avLst/>
          </a:prstGeom>
          <a:solidFill>
            <a:srgbClr val="F7F9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62272" y="1463040"/>
            <a:ext cx="73152" cy="178308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6002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7365D"/>
                </a:solidFill>
                <a:latin typeface="Aptos"/>
              </a:defRPr>
            </a:pPr>
            <a:r>
              <a:t>Mentoring — someone to talk to</a:t>
            </a:r>
          </a:p>
          <a:p>
            <a:pPr>
              <a:spcBef>
                <a:spcPts val="500"/>
              </a:spcBef>
              <a:defRPr sz="950">
                <a:solidFill>
                  <a:srgbClr val="5A5A5A"/>
                </a:solidFill>
                <a:latin typeface="Aptos"/>
              </a:defRPr>
            </a:pPr>
            <a:r>
              <a:t>Voluntary individual/small-group space for perspective and guidance.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84463" y="1463040"/>
            <a:ext cx="3520440" cy="1783080"/>
          </a:xfrm>
          <a:prstGeom prst="roundRect">
            <a:avLst/>
          </a:prstGeom>
          <a:solidFill>
            <a:srgbClr val="F7F9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84463" y="1463040"/>
            <a:ext cx="73152" cy="178308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85632" y="16002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7365D"/>
                </a:solidFill>
                <a:latin typeface="Aptos"/>
              </a:defRPr>
            </a:pPr>
            <a:r>
              <a:t>University &amp; career exposure</a:t>
            </a:r>
          </a:p>
          <a:p>
            <a:pPr>
              <a:spcBef>
                <a:spcPts val="500"/>
              </a:spcBef>
              <a:defRPr sz="950">
                <a:solidFill>
                  <a:srgbClr val="5A5A5A"/>
                </a:solidFill>
                <a:latin typeface="Aptos"/>
              </a:defRPr>
            </a:pPr>
            <a:r>
              <a:t>Beyond brochures: candid interaction with students, alumni, academics and professionals.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3520440" cy="1783080"/>
          </a:xfrm>
          <a:prstGeom prst="roundRect">
            <a:avLst/>
          </a:prstGeom>
          <a:solidFill>
            <a:srgbClr val="F7F9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611880"/>
            <a:ext cx="73152" cy="17830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7" y="37490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7365D"/>
                </a:solidFill>
                <a:latin typeface="Aptos"/>
              </a:defRPr>
            </a:pPr>
            <a:r>
              <a:t>Communication &amp; confidence</a:t>
            </a:r>
          </a:p>
          <a:p>
            <a:pPr>
              <a:spcBef>
                <a:spcPts val="500"/>
              </a:spcBef>
              <a:defRPr sz="950">
                <a:solidFill>
                  <a:srgbClr val="5A5A5A"/>
                </a:solidFill>
                <a:latin typeface="Aptos"/>
              </a:defRPr>
            </a:pPr>
            <a:r>
              <a:t>Speak, participate, handle setbacks and take visible responsibility.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62272" y="3611880"/>
            <a:ext cx="3520440" cy="1783080"/>
          </a:xfrm>
          <a:prstGeom prst="roundRect">
            <a:avLst/>
          </a:prstGeom>
          <a:solidFill>
            <a:srgbClr val="F7F9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62272" y="3611880"/>
            <a:ext cx="73152" cy="178308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40" y="37490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7365D"/>
                </a:solidFill>
                <a:latin typeface="Aptos"/>
              </a:defRPr>
            </a:pPr>
            <a:r>
              <a:t>Leadership &amp; ownership</a:t>
            </a:r>
          </a:p>
          <a:p>
            <a:pPr>
              <a:spcBef>
                <a:spcPts val="500"/>
              </a:spcBef>
              <a:defRPr sz="950">
                <a:solidFill>
                  <a:srgbClr val="5A5A5A"/>
                </a:solidFill>
                <a:latin typeface="Aptos"/>
              </a:defRPr>
            </a:pPr>
            <a:r>
              <a:t>Councils, clubs, service and events as leadership laboratories.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3611880"/>
            <a:ext cx="3520440" cy="1783080"/>
          </a:xfrm>
          <a:prstGeom prst="roundRect">
            <a:avLst/>
          </a:prstGeom>
          <a:solidFill>
            <a:srgbClr val="F7F9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84463" y="3611880"/>
            <a:ext cx="73152" cy="178308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85632" y="37490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7365D"/>
                </a:solidFill>
                <a:latin typeface="Aptos"/>
              </a:defRPr>
            </a:pPr>
            <a:r>
              <a:t>Parent engagement</a:t>
            </a:r>
          </a:p>
          <a:p>
            <a:pPr>
              <a:spcBef>
                <a:spcPts val="500"/>
              </a:spcBef>
              <a:defRPr sz="950">
                <a:solidFill>
                  <a:srgbClr val="5A5A5A"/>
                </a:solidFill>
                <a:latin typeface="Aptos"/>
              </a:defRPr>
            </a:pPr>
            <a:r>
              <a:t>Teenagers, aspirations, new-age careers, independence and school-to-university transition.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8C8C8C"/>
                </a:solidFill>
                <a:latin typeface="Aptos"/>
              </a:defRPr>
            </a:pPr>
            <a:r>
              <a:t>Presidency School | School to Life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Aptos Display"/>
              </a:defRPr>
            </a:pPr>
            <a:r>
              <a:t>What is different about this approach?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A5A5A"/>
                </a:solidFill>
                <a:latin typeface="Aptos"/>
              </a:defRPr>
            </a:pPr>
            <a:r>
              <a:t>Listening and perspective before prescription</a:t>
            </a:r>
          </a:p>
        </p:txBody>
      </p:sp>
      <p:sp>
        <p:nvSpPr>
          <p:cNvPr id="5" name="Chevron 4"/>
          <p:cNvSpPr/>
          <p:nvPr/>
        </p:nvSpPr>
        <p:spPr>
          <a:xfrm>
            <a:off x="685800" y="1874519"/>
            <a:ext cx="1447364" cy="960120"/>
          </a:xfrm>
          <a:prstGeom prst="chevron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2103120"/>
            <a:ext cx="12187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LISTEN</a:t>
            </a:r>
          </a:p>
        </p:txBody>
      </p:sp>
      <p:sp>
        <p:nvSpPr>
          <p:cNvPr id="7" name="Chevron 6"/>
          <p:cNvSpPr/>
          <p:nvPr/>
        </p:nvSpPr>
        <p:spPr>
          <a:xfrm>
            <a:off x="2242892" y="1874519"/>
            <a:ext cx="1447364" cy="960120"/>
          </a:xfrm>
          <a:prstGeom prst="chevron">
            <a:avLst/>
          </a:prstGeom>
          <a:solidFill>
            <a:srgbClr val="5B7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16044" y="2103120"/>
            <a:ext cx="12187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UNDERSTAND</a:t>
            </a:r>
          </a:p>
        </p:txBody>
      </p:sp>
      <p:sp>
        <p:nvSpPr>
          <p:cNvPr id="9" name="Chevron 8"/>
          <p:cNvSpPr/>
          <p:nvPr/>
        </p:nvSpPr>
        <p:spPr>
          <a:xfrm>
            <a:off x="3799985" y="1874519"/>
            <a:ext cx="1447364" cy="960120"/>
          </a:xfrm>
          <a:prstGeom prst="chevron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73137" y="2103120"/>
            <a:ext cx="12187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EXPLORE</a:t>
            </a:r>
          </a:p>
        </p:txBody>
      </p:sp>
      <p:sp>
        <p:nvSpPr>
          <p:cNvPr id="11" name="Chevron 10"/>
          <p:cNvSpPr/>
          <p:nvPr/>
        </p:nvSpPr>
        <p:spPr>
          <a:xfrm>
            <a:off x="5357077" y="1874519"/>
            <a:ext cx="1447364" cy="960120"/>
          </a:xfrm>
          <a:prstGeom prst="chevron">
            <a:avLst/>
          </a:prstGeom>
          <a:solidFill>
            <a:srgbClr val="5B7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30229" y="2103120"/>
            <a:ext cx="12187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PERSPECTIVE</a:t>
            </a:r>
          </a:p>
        </p:txBody>
      </p:sp>
      <p:sp>
        <p:nvSpPr>
          <p:cNvPr id="13" name="Chevron 12"/>
          <p:cNvSpPr/>
          <p:nvPr/>
        </p:nvSpPr>
        <p:spPr>
          <a:xfrm>
            <a:off x="6914170" y="1874519"/>
            <a:ext cx="1447364" cy="960120"/>
          </a:xfrm>
          <a:prstGeom prst="chevron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87322" y="2103120"/>
            <a:ext cx="12187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CONNECT</a:t>
            </a:r>
          </a:p>
        </p:txBody>
      </p:sp>
      <p:sp>
        <p:nvSpPr>
          <p:cNvPr id="15" name="Chevron 14"/>
          <p:cNvSpPr/>
          <p:nvPr/>
        </p:nvSpPr>
        <p:spPr>
          <a:xfrm>
            <a:off x="8471262" y="1874519"/>
            <a:ext cx="1447364" cy="960120"/>
          </a:xfrm>
          <a:prstGeom prst="chevron">
            <a:avLst/>
          </a:prstGeom>
          <a:solidFill>
            <a:srgbClr val="5B7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44414" y="2103120"/>
            <a:ext cx="12187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ACT</a:t>
            </a:r>
          </a:p>
        </p:txBody>
      </p:sp>
      <p:sp>
        <p:nvSpPr>
          <p:cNvPr id="17" name="Chevron 16"/>
          <p:cNvSpPr/>
          <p:nvPr/>
        </p:nvSpPr>
        <p:spPr>
          <a:xfrm>
            <a:off x="10028355" y="1874519"/>
            <a:ext cx="1447364" cy="960120"/>
          </a:xfrm>
          <a:prstGeom prst="chevron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01507" y="2103120"/>
            <a:ext cx="12187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429000"/>
            <a:ext cx="4800600" cy="1417320"/>
          </a:xfrm>
          <a:prstGeom prst="roundRect">
            <a:avLst/>
          </a:prstGeom>
          <a:solidFill>
            <a:srgbClr val="F7F9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" y="3429000"/>
            <a:ext cx="73152" cy="141732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5568" y="3566160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365D"/>
                </a:solidFill>
                <a:latin typeface="Aptos"/>
              </a:defRPr>
            </a:pPr>
            <a:r>
              <a:t>Student benchmark</a:t>
            </a:r>
          </a:p>
          <a:p>
            <a:pPr>
              <a:spcBef>
                <a:spcPts val="500"/>
              </a:spcBef>
              <a:defRPr sz="1100">
                <a:solidFill>
                  <a:srgbClr val="5A5A5A"/>
                </a:solidFill>
                <a:latin typeface="Aptos"/>
              </a:defRPr>
            </a:pPr>
            <a:r>
              <a:t>“After speaking with Deepak Sir, I understand myself better and I know what I should do next.”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3429000"/>
            <a:ext cx="4800600" cy="1417320"/>
          </a:xfrm>
          <a:prstGeom prst="roundRect">
            <a:avLst/>
          </a:prstGeom>
          <a:solidFill>
            <a:srgbClr val="F7F9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46520" y="3429000"/>
            <a:ext cx="73152" cy="141732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47688" y="3566160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365D"/>
                </a:solidFill>
                <a:latin typeface="Aptos"/>
              </a:defRPr>
            </a:pPr>
            <a:r>
              <a:t>Development benchmark</a:t>
            </a:r>
          </a:p>
          <a:p>
            <a:pPr>
              <a:spcBef>
                <a:spcPts val="500"/>
              </a:spcBef>
              <a:defRPr sz="1200">
                <a:solidFill>
                  <a:srgbClr val="5A5A5A"/>
                </a:solidFill>
                <a:latin typeface="Aptos"/>
              </a:defRPr>
            </a:pPr>
            <a:r>
              <a:t>Clarity • Confidence • Exposure • Action • Ownership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8C8C8C"/>
                </a:solidFill>
                <a:latin typeface="Aptos"/>
              </a:defRPr>
            </a:pPr>
            <a:r>
              <a:t>Presidency School | School to Life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Aptos Display"/>
              </a:defRPr>
            </a:pPr>
            <a:r>
              <a:t>Value to Presidency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A5A5A"/>
                </a:solidFill>
                <a:latin typeface="Aptos"/>
              </a:defRPr>
            </a:pPr>
            <a:r>
              <a:t>Student development and institutional differentiation reinforce each other</a:t>
            </a:r>
          </a:p>
        </p:txBody>
      </p:sp>
      <p:sp>
        <p:nvSpPr>
          <p:cNvPr id="5" name="Chevron 4"/>
          <p:cNvSpPr/>
          <p:nvPr/>
        </p:nvSpPr>
        <p:spPr>
          <a:xfrm>
            <a:off x="685800" y="1828800"/>
            <a:ext cx="2070201" cy="960120"/>
          </a:xfrm>
          <a:prstGeom prst="chevron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2057400"/>
            <a:ext cx="1841601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Better Student</a:t>
            </a:r>
            <a:br/>
            <a:r>
              <a:t>Experience</a:t>
            </a:r>
          </a:p>
        </p:txBody>
      </p:sp>
      <p:sp>
        <p:nvSpPr>
          <p:cNvPr id="7" name="Chevron 6"/>
          <p:cNvSpPr/>
          <p:nvPr/>
        </p:nvSpPr>
        <p:spPr>
          <a:xfrm>
            <a:off x="2865729" y="1828800"/>
            <a:ext cx="2070201" cy="960120"/>
          </a:xfrm>
          <a:prstGeom prst="chevron">
            <a:avLst/>
          </a:prstGeom>
          <a:solidFill>
            <a:srgbClr val="5B7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38881" y="2057400"/>
            <a:ext cx="1841601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Stronger Parent</a:t>
            </a:r>
            <a:br/>
            <a:r>
              <a:t>Confidence</a:t>
            </a:r>
          </a:p>
        </p:txBody>
      </p:sp>
      <p:sp>
        <p:nvSpPr>
          <p:cNvPr id="9" name="Chevron 8"/>
          <p:cNvSpPr/>
          <p:nvPr/>
        </p:nvSpPr>
        <p:spPr>
          <a:xfrm>
            <a:off x="5045659" y="1828800"/>
            <a:ext cx="2070201" cy="960120"/>
          </a:xfrm>
          <a:prstGeom prst="chevron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18811" y="2057400"/>
            <a:ext cx="1841601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Positive Word</a:t>
            </a:r>
            <a:br/>
            <a:r>
              <a:t>of Mouth</a:t>
            </a:r>
          </a:p>
        </p:txBody>
      </p:sp>
      <p:sp>
        <p:nvSpPr>
          <p:cNvPr id="11" name="Chevron 10"/>
          <p:cNvSpPr/>
          <p:nvPr/>
        </p:nvSpPr>
        <p:spPr>
          <a:xfrm>
            <a:off x="7225588" y="1828800"/>
            <a:ext cx="2070201" cy="960120"/>
          </a:xfrm>
          <a:prstGeom prst="chevron">
            <a:avLst/>
          </a:prstGeom>
          <a:solidFill>
            <a:srgbClr val="5B7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98740" y="2057400"/>
            <a:ext cx="1841601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Stronger</a:t>
            </a:r>
            <a:br/>
            <a:r>
              <a:t>Reputation</a:t>
            </a:r>
          </a:p>
        </p:txBody>
      </p:sp>
      <p:sp>
        <p:nvSpPr>
          <p:cNvPr id="13" name="Chevron 12"/>
          <p:cNvSpPr/>
          <p:nvPr/>
        </p:nvSpPr>
        <p:spPr>
          <a:xfrm>
            <a:off x="9405518" y="1828800"/>
            <a:ext cx="2070201" cy="960120"/>
          </a:xfrm>
          <a:prstGeom prst="chevron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78670" y="2057400"/>
            <a:ext cx="1841601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Admissions &amp;</a:t>
            </a:r>
            <a:br/>
            <a:r>
              <a:t>Retention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337560"/>
            <a:ext cx="3429000" cy="1508760"/>
          </a:xfrm>
          <a:prstGeom prst="roundRect">
            <a:avLst/>
          </a:prstGeom>
          <a:solidFill>
            <a:srgbClr val="F7F9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" y="3337560"/>
            <a:ext cx="73152" cy="150876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4128" y="34747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7365D"/>
                </a:solidFill>
                <a:latin typeface="Aptos"/>
              </a:defRPr>
            </a:pPr>
            <a:r>
              <a:t>Presidency Conversations</a:t>
            </a:r>
          </a:p>
          <a:p>
            <a:pPr>
              <a:spcBef>
                <a:spcPts val="500"/>
              </a:spcBef>
              <a:defRPr sz="950">
                <a:solidFill>
                  <a:srgbClr val="5A5A5A"/>
                </a:solidFill>
                <a:latin typeface="Aptos"/>
              </a:defRPr>
            </a:pPr>
            <a:r>
              <a:t>Alumni, professionals, entrepreneurs, academics and emerging-career practitioners.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337560"/>
            <a:ext cx="3429000" cy="1508760"/>
          </a:xfrm>
          <a:prstGeom prst="roundRect">
            <a:avLst/>
          </a:prstGeom>
          <a:solidFill>
            <a:srgbClr val="F7F9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89120" y="3337560"/>
            <a:ext cx="73152" cy="150876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90288" y="34747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7365D"/>
                </a:solidFill>
                <a:latin typeface="Aptos"/>
              </a:defRPr>
            </a:pPr>
            <a:r>
              <a:t>Parent Development Calendar</a:t>
            </a:r>
          </a:p>
          <a:p>
            <a:pPr>
              <a:spcBef>
                <a:spcPts val="500"/>
              </a:spcBef>
              <a:defRPr sz="950">
                <a:solidFill>
                  <a:srgbClr val="5A5A5A"/>
                </a:solidFill>
                <a:latin typeface="Aptos"/>
              </a:defRPr>
            </a:pPr>
            <a:r>
              <a:t>Structured conversations that help parents navigate adolescence and future choices.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3337560"/>
            <a:ext cx="3429000" cy="1508760"/>
          </a:xfrm>
          <a:prstGeom prst="roundRect">
            <a:avLst/>
          </a:prstGeom>
          <a:solidFill>
            <a:srgbClr val="F7F9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955279" y="3337560"/>
            <a:ext cx="73152" cy="150876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56448" y="34747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7365D"/>
                </a:solidFill>
                <a:latin typeface="Aptos"/>
              </a:defRPr>
            </a:pPr>
            <a:r>
              <a:t>Student Leadership Ecosystem</a:t>
            </a:r>
          </a:p>
          <a:p>
            <a:pPr>
              <a:spcBef>
                <a:spcPts val="500"/>
              </a:spcBef>
              <a:defRPr sz="950">
                <a:solidFill>
                  <a:srgbClr val="5A5A5A"/>
                </a:solidFill>
                <a:latin typeface="Aptos"/>
              </a:defRPr>
            </a:pPr>
            <a:r>
              <a:t>Responsibility through clubs, councils, service, peer roles and real project ownership.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8C8C8C"/>
                </a:solidFill>
                <a:latin typeface="Aptos"/>
              </a:defRPr>
            </a:pPr>
            <a:r>
              <a:t>Presidency School | School to Life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Aptos Display"/>
              </a:defRPr>
            </a:pPr>
            <a:r>
              <a:t>How I suggest we begin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A5A5A"/>
                </a:solidFill>
                <a:latin typeface="Aptos"/>
              </a:defRPr>
            </a:pPr>
            <a:r>
              <a:t>90-day pilot | approximately 24 working days</a:t>
            </a:r>
          </a:p>
        </p:txBody>
      </p:sp>
      <p:sp>
        <p:nvSpPr>
          <p:cNvPr id="5" name="Chevron 4"/>
          <p:cNvSpPr/>
          <p:nvPr/>
        </p:nvSpPr>
        <p:spPr>
          <a:xfrm>
            <a:off x="685800" y="1691640"/>
            <a:ext cx="2615184" cy="960120"/>
          </a:xfrm>
          <a:prstGeom prst="chevron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920240"/>
            <a:ext cx="238658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LISTEN</a:t>
            </a:r>
            <a:br/>
            <a:r>
              <a:t>Days 1–8</a:t>
            </a:r>
          </a:p>
        </p:txBody>
      </p:sp>
      <p:sp>
        <p:nvSpPr>
          <p:cNvPr id="7" name="Chevron 6"/>
          <p:cNvSpPr/>
          <p:nvPr/>
        </p:nvSpPr>
        <p:spPr>
          <a:xfrm>
            <a:off x="3410712" y="1691640"/>
            <a:ext cx="2615184" cy="960120"/>
          </a:xfrm>
          <a:prstGeom prst="chevron">
            <a:avLst/>
          </a:prstGeom>
          <a:solidFill>
            <a:srgbClr val="5B7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83864" y="1920240"/>
            <a:ext cx="238658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PILOT</a:t>
            </a:r>
            <a:br/>
            <a:r>
              <a:t>Days 9–16</a:t>
            </a:r>
          </a:p>
        </p:txBody>
      </p:sp>
      <p:sp>
        <p:nvSpPr>
          <p:cNvPr id="9" name="Chevron 8"/>
          <p:cNvSpPr/>
          <p:nvPr/>
        </p:nvSpPr>
        <p:spPr>
          <a:xfrm>
            <a:off x="6135624" y="1691640"/>
            <a:ext cx="2615184" cy="960120"/>
          </a:xfrm>
          <a:prstGeom prst="chevron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08776" y="1920240"/>
            <a:ext cx="238658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BUILD</a:t>
            </a:r>
            <a:br/>
            <a:r>
              <a:t>Days 17–23</a:t>
            </a:r>
          </a:p>
        </p:txBody>
      </p:sp>
      <p:sp>
        <p:nvSpPr>
          <p:cNvPr id="11" name="Chevron 10"/>
          <p:cNvSpPr/>
          <p:nvPr/>
        </p:nvSpPr>
        <p:spPr>
          <a:xfrm>
            <a:off x="8860536" y="1691640"/>
            <a:ext cx="2615184" cy="960120"/>
          </a:xfrm>
          <a:prstGeom prst="chevron">
            <a:avLst/>
          </a:prstGeom>
          <a:solidFill>
            <a:srgbClr val="5B7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33688" y="1920240"/>
            <a:ext cx="238658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REVIEW</a:t>
            </a:r>
            <a:br/>
            <a:r>
              <a:t>Day 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246120"/>
            <a:ext cx="5303520" cy="2148840"/>
          </a:xfrm>
          <a:prstGeom prst="roundRect">
            <a:avLst/>
          </a:prstGeom>
          <a:solidFill>
            <a:srgbClr val="F7F9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3246120"/>
            <a:ext cx="73152" cy="214884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" y="3383279"/>
            <a:ext cx="4983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365D"/>
                </a:solidFill>
                <a:latin typeface="Aptos"/>
              </a:defRPr>
            </a:pPr>
            <a:r>
              <a:t>Two non-consecutive days per week</a:t>
            </a:r>
          </a:p>
          <a:p>
            <a:pPr>
              <a:spcBef>
                <a:spcPts val="500"/>
              </a:spcBef>
              <a:defRPr sz="1050">
                <a:solidFill>
                  <a:srgbClr val="5A5A5A"/>
                </a:solidFill>
                <a:latin typeface="Aptos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886200"/>
            <a:ext cx="4892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5A5A5A"/>
                </a:solidFill>
                <a:latin typeface="Aptos"/>
              </a:defRPr>
            </a:pPr>
            <a:r>
              <a:t>• Day A — Student &amp; Campus Engagement: mentoring, School-to-Life, leadership, faculty touchpoints</a:t>
            </a:r>
          </a:p>
          <a:p>
            <a:pPr>
              <a:spcAft>
                <a:spcPts val="700"/>
              </a:spcAft>
              <a:defRPr sz="1200">
                <a:solidFill>
                  <a:srgbClr val="5A5A5A"/>
                </a:solidFill>
                <a:latin typeface="Aptos"/>
              </a:defRPr>
            </a:pPr>
            <a:r>
              <a:t>• Day B — Institutional Development: Principal review, parents, alumni/external network, programme design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246120"/>
            <a:ext cx="5120640" cy="2148840"/>
          </a:xfrm>
          <a:prstGeom prst="roundRect">
            <a:avLst/>
          </a:prstGeom>
          <a:solidFill>
            <a:srgbClr val="F7F9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3246120"/>
            <a:ext cx="73152" cy="214884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64807" y="3383279"/>
            <a:ext cx="4800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365D"/>
                </a:solidFill>
                <a:latin typeface="Aptos"/>
              </a:defRPr>
            </a:pPr>
            <a:r>
              <a:t>Operating discipline</a:t>
            </a:r>
          </a:p>
          <a:p>
            <a:pPr>
              <a:spcBef>
                <a:spcPts val="500"/>
              </a:spcBef>
              <a:defRPr sz="1050">
                <a:solidFill>
                  <a:srgbClr val="5A5A5A"/>
                </a:solidFill>
                <a:latin typeface="Aptos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3886200"/>
            <a:ext cx="470915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5A5A5A"/>
                </a:solidFill>
                <a:latin typeface="Aptos"/>
              </a:defRPr>
            </a:pPr>
            <a:r>
              <a:t>• Between visits: preparation, follow-up, speaker/alumni outreach and feedback review</a:t>
            </a:r>
          </a:p>
          <a:p>
            <a:pPr>
              <a:spcAft>
                <a:spcPts val="700"/>
              </a:spcAft>
              <a:defRPr sz="1200">
                <a:solidFill>
                  <a:srgbClr val="5A5A5A"/>
                </a:solidFill>
                <a:latin typeface="Aptos"/>
              </a:defRPr>
            </a:pPr>
            <a:r>
              <a:t>• One designated SPOC; approved mentoring space; clear referral/safeguarding route</a:t>
            </a:r>
          </a:p>
          <a:p>
            <a:pPr>
              <a:spcAft>
                <a:spcPts val="700"/>
              </a:spcAft>
              <a:defRPr sz="1200">
                <a:solidFill>
                  <a:srgbClr val="5A5A5A"/>
                </a:solidFill>
                <a:latin typeface="Aptos"/>
              </a:defRPr>
            </a:pPr>
            <a:r>
              <a:t>• Listen first. Pilot selectively. Build only what demonstrates value.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8C8C8C"/>
                </a:solidFill>
                <a:latin typeface="Aptos"/>
              </a:defRPr>
            </a:pPr>
            <a:r>
              <a:t>Presidency School | School to Life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Aptos Display"/>
              </a:defRPr>
            </a:pPr>
            <a:r>
              <a:t>The 90-day success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A5A5A"/>
                </a:solidFill>
                <a:latin typeface="Aptos"/>
              </a:defRPr>
            </a:pPr>
            <a:r>
              <a:t>Tangible mechanisms—not a collection of events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63040"/>
            <a:ext cx="1993392" cy="114300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572768"/>
            <a:ext cx="18105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F5597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084832"/>
            <a:ext cx="177393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5A5A5A"/>
                </a:solidFill>
              </a:defRPr>
            </a:pPr>
            <a:r>
              <a:t>Safe mentoring mechanism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44368" y="1463040"/>
            <a:ext cx="1993392" cy="114300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35808" y="1572768"/>
            <a:ext cx="18105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548235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54096" y="2084832"/>
            <a:ext cx="177393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5A5A5A"/>
                </a:solidFill>
              </a:defRPr>
            </a:pPr>
            <a:r>
              <a:t>Draft IX–XII School-to-Life framework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30368" y="1463040"/>
            <a:ext cx="1993392" cy="114300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21807" y="1572768"/>
            <a:ext cx="18105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BF9000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0096" y="2084832"/>
            <a:ext cx="177393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5A5A5A"/>
                </a:solidFill>
              </a:defRPr>
            </a:pPr>
            <a:r>
              <a:t>Parent-engagement format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16368" y="1463040"/>
            <a:ext cx="1993392" cy="114300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07808" y="1572768"/>
            <a:ext cx="18105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F5597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6096" y="2084832"/>
            <a:ext cx="177393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5A5A5A"/>
                </a:solidFill>
              </a:defRPr>
            </a:pPr>
            <a:r>
              <a:t>Presidency Conversations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02368" y="1463040"/>
            <a:ext cx="1993392" cy="114300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93808" y="1572768"/>
            <a:ext cx="18105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548235"/>
                </a:solidFill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12096" y="2084832"/>
            <a:ext cx="177393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5A5A5A"/>
                </a:solidFill>
              </a:defRPr>
            </a:pPr>
            <a:r>
              <a:t>Student Ambassador model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154680"/>
            <a:ext cx="4846320" cy="1508760"/>
          </a:xfrm>
          <a:prstGeom prst="roundRect">
            <a:avLst/>
          </a:prstGeom>
          <a:solidFill>
            <a:srgbClr val="F7F9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4400" y="3154680"/>
            <a:ext cx="73152" cy="150876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15568" y="3291840"/>
            <a:ext cx="4526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365D"/>
                </a:solidFill>
                <a:latin typeface="Aptos"/>
              </a:defRPr>
            </a:pPr>
            <a:r>
              <a:t>Evidence-based student insight</a:t>
            </a:r>
          </a:p>
          <a:p>
            <a:pPr>
              <a:spcBef>
                <a:spcPts val="500"/>
              </a:spcBef>
              <a:defRPr sz="1050">
                <a:solidFill>
                  <a:srgbClr val="5A5A5A"/>
                </a:solidFill>
                <a:latin typeface="Aptos"/>
              </a:defRPr>
            </a:pPr>
            <a:r>
              <a:t>What students are actually struggling with, exploring and beginning to do differently.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154680"/>
            <a:ext cx="4846320" cy="1508760"/>
          </a:xfrm>
          <a:prstGeom prst="roundRect">
            <a:avLst/>
          </a:prstGeom>
          <a:solidFill>
            <a:srgbClr val="F7F9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0" y="3154680"/>
            <a:ext cx="73152" cy="150876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01968" y="3291840"/>
            <a:ext cx="4526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365D"/>
                </a:solidFill>
                <a:latin typeface="Aptos"/>
              </a:defRPr>
            </a:pPr>
            <a:r>
              <a:t>12-month recommendation</a:t>
            </a:r>
          </a:p>
          <a:p>
            <a:pPr>
              <a:spcBef>
                <a:spcPts val="500"/>
              </a:spcBef>
              <a:defRPr sz="1050">
                <a:solidFill>
                  <a:srgbClr val="5A5A5A"/>
                </a:solidFill>
                <a:latin typeface="Aptos"/>
              </a:defRPr>
            </a:pPr>
            <a:r>
              <a:t>What to deepen, modify, stop or introduce after the pilot—supported by evidence.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074920"/>
            <a:ext cx="9966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7365D"/>
                </a:solidFill>
              </a:defRPr>
            </a:pPr>
            <a:r>
              <a:t>Measure value, not just activity. Complement the Principal, faculty and counsellor—do not duplicate them.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8C8C8C"/>
                </a:solidFill>
                <a:latin typeface="Aptos"/>
              </a:defRPr>
            </a:pPr>
            <a:r>
              <a:t>Presidency School | School to Life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Why this role can add a different perspective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3337560" cy="2148840"/>
          </a:xfrm>
          <a:prstGeom prst="roundRect">
            <a:avLst/>
          </a:prstGeom>
          <a:solidFill>
            <a:srgbClr val="F7F9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73152" cy="214884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0574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365D"/>
                </a:solidFill>
                <a:latin typeface="Aptos"/>
              </a:defRPr>
            </a:pPr>
            <a:r>
              <a:t>35+ years</a:t>
            </a:r>
          </a:p>
          <a:p>
            <a:pPr>
              <a:spcBef>
                <a:spcPts val="500"/>
              </a:spcBef>
              <a:defRPr sz="1200">
                <a:solidFill>
                  <a:srgbClr val="5A5A5A"/>
                </a:solidFill>
                <a:latin typeface="Aptos"/>
              </a:defRPr>
            </a:pPr>
            <a:r>
              <a:t>Corporate leadership, entrepreneurship and responsibility for outcomes.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920240"/>
            <a:ext cx="3337560" cy="2148840"/>
          </a:xfrm>
          <a:prstGeom prst="roundRect">
            <a:avLst/>
          </a:prstGeom>
          <a:solidFill>
            <a:srgbClr val="F7F9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34840" y="1920240"/>
            <a:ext cx="73152" cy="214884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36007" y="20574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365D"/>
                </a:solidFill>
                <a:latin typeface="Aptos"/>
              </a:defRPr>
            </a:pPr>
            <a:r>
              <a:t>5 years</a:t>
            </a:r>
          </a:p>
          <a:p>
            <a:pPr>
              <a:spcBef>
                <a:spcPts val="500"/>
              </a:spcBef>
              <a:defRPr sz="1200">
                <a:solidFill>
                  <a:srgbClr val="5A5A5A"/>
                </a:solidFill>
                <a:latin typeface="Aptos"/>
              </a:defRPr>
            </a:pPr>
            <a:r>
              <a:t>Close engagement with university students and leadership of Student Affairs.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337560" cy="2148840"/>
          </a:xfrm>
          <a:prstGeom prst="roundRect">
            <a:avLst/>
          </a:prstGeom>
          <a:solidFill>
            <a:srgbClr val="F7F9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46720" y="1920240"/>
            <a:ext cx="73152" cy="214884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47888" y="20574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365D"/>
                </a:solidFill>
                <a:latin typeface="Aptos"/>
              </a:defRPr>
            </a:pPr>
            <a:r>
              <a:t>The bridge</a:t>
            </a:r>
          </a:p>
          <a:p>
            <a:pPr>
              <a:spcBef>
                <a:spcPts val="500"/>
              </a:spcBef>
              <a:defRPr sz="1200">
                <a:solidFill>
                  <a:srgbClr val="5A5A5A"/>
                </a:solidFill>
                <a:latin typeface="Aptos"/>
              </a:defRPr>
            </a:pPr>
            <a:r>
              <a:t>Understanding what happens after school—university, independence, career and adult life.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7091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My strongest differentiator is not that I know school education better than Presidency’s educators. It is that I can help build a stronger bridge between school and what comes after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9893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8D2E1"/>
                </a:solidFill>
              </a:defRPr>
            </a:pPr>
            <a:r>
              <a:t>Deepak Sogani | Proposed Advisor – Student Development &amp; Institutional Engagement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682</Words>
  <Application>Microsoft Office PowerPoint</Application>
  <PresentationFormat>Widescreen</PresentationFormat>
  <Paragraphs>98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Hemendra</dc:creator>
  <cp:keywords/>
  <dc:description>generated using python-pptx</dc:description>
  <cp:lastModifiedBy>laxmi jain</cp:lastModifiedBy>
  <cp:revision>1</cp:revision>
  <dcterms:created xsi:type="dcterms:W3CDTF">2013-01-27T09:14:16Z</dcterms:created>
  <dcterms:modified xsi:type="dcterms:W3CDTF">2026-09-07T16:53:38Z</dcterms:modified>
  <cp:category/>
</cp:coreProperties>
</file>